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9" r:id="rId3"/>
    <p:sldId id="262" r:id="rId4"/>
    <p:sldId id="261" r:id="rId5"/>
    <p:sldId id="260" r:id="rId6"/>
    <p:sldId id="263" r:id="rId7"/>
    <p:sldId id="257" r:id="rId8"/>
    <p:sldId id="265" r:id="rId9"/>
    <p:sldId id="264" r:id="rId10"/>
    <p:sldId id="266" r:id="rId11"/>
    <p:sldId id="268" r:id="rId12"/>
    <p:sldId id="270" r:id="rId13"/>
    <p:sldId id="269" r:id="rId14"/>
    <p:sldId id="267" r:id="rId15"/>
    <p:sldId id="273" r:id="rId16"/>
    <p:sldId id="271" r:id="rId17"/>
    <p:sldId id="274" r:id="rId18"/>
    <p:sldId id="272" r:id="rId19"/>
    <p:sldId id="258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657E037-D1FF-7CFA-6BEA-0901164FEF77}" v="60" dt="2025-12-08T20:13:58.051"/>
    <p1510:client id="{5ECE0B68-FFCA-F847-DA56-CC0F9A07CB08}" v="131" dt="2025-12-08T22:24:20.275"/>
    <p1510:client id="{84B60DB3-5C8D-5F00-50BA-9D6477BAF8C1}" v="10" dt="2025-12-08T20:10:18.596"/>
    <p1510:client id="{9C72E190-A681-5D80-035D-98FE0B85EF8A}" v="51" dt="2025-12-08T00:43:30.019"/>
    <p1510:client id="{AFB6795E-9DDF-12F9-F6E9-64EBB2DA47AB}" v="69" dt="2025-12-08T23:00:47.366"/>
    <p1510:client id="{E5B5EA8F-D68E-968F-DE20-3723E9517ED2}" v="1" dt="2025-12-07T23:06:54.98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08T20:02:02.38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22052 13573 16383 0 0,'-5'0'0'0'0,"-7"0"0"0"0,-6 0 0 0 0,-5 0 0 0 0,-4 0 0 0 0,-2 0 0 0 0,-1 0 0 0 0,-6 0 0 0 0,-1 5 0 0 0,0 2 0 0 0,2-1 0 0 0,2-1 0 0 0,1-1 0 0 0,1-2 0 0 0,6 4 0 0 0,2 1 0 0 0,0 0 0 0 0,-1-2 0 0 0,-1 3 0 0 0,-2 1 0 0 0,-1-2 0 0 0,-1 3 0 0 0,0 6 0 0 0,-1-1 0 0 0,6 2 0 0 0,1-1 0 0 0,-1-4 0 0 0,0 1 0 0 0,-2-2 0 0 0,-1 8 0 0 0,-1 0 0 0 0,4 2 0 0 0,1 3 0 0 0,0 2 0 0 0,-2-4 0 0 0,4 0 0 0 0,0 1 0 0 0,-1 2 0 0 0,-1 1 0 0 0,-3 1 0 0 0,3 2 0 0 0,2 0 0 0 0,-2 1 0 0 0,-2-1 0 0 0,-1 1 0 0 0,4 0 0 0 0,5-1 0 0 0,0 1 0 0 0,-1-6 0 0 0,2-1 0 0 0,-1 0 0 0 0,2 2 0 0 0,4 0 0 0 0,-1-3 0 0 0,1 0 0 0 0,2 1 0 0 0,-1 1 0 0 0,0 2 0 0 0,-3 6 0 0 0,1 8 0 0 0,2 2 0 0 0,3 4 0 0 0,-2 5 0 0 0,0 2 0 0 0,-3-2 0 0 0,0 1 0 0 0,2-4 0 0 0,3-1 0 0 0,3-2 0 0 0,2 0 0 0 0,1 4 0 0 0,1-3 0 0 0,0 1 0 0 0,1-2 0 0 0,-1 2 0 0 0,1-4 0 0 0,-1 3 0 0 0,0-3 0 0 0,0-3 0 0 0,0 1 0 0 0,0-1 0 0 0,0-2 0 0 0,0 2 0 0 0,0 0 0 0 0,0-3 0 0 0,5-2 0 0 0,2 3 0 0 0,-1 0 0 0 0,4-2 0 0 0,6 4 0 0 0,4 9 0 0 0,4-3 0 0 0,-2-5 0 0 0,-4 1 0 0 0,-1-7 0 0 0,-3-4 0 0 0,1-2 0 0 0,3-7 0 0 0,-2-2 0 0 0,-3 2 0 0 0,1 0 0 0 0,3-2 0 0 0,-1 0 0 0 0,1-3 0 0 0,3 0 0 0 0,4 2 0 0 0,1 4 0 0 0,3-3 0 0 0,1 0 0 0 0,1-3 0 0 0,-1 1 0 0 0,1-4 0 0 0,-5 2 0 0 0,-1-2 0 0 0,4-3 0 0 0,-2 0 0 0 0,-1 0 0 0 0,6 2 0 0 0,3 4 0 0 0,0 0 0 0 0,-1-4 0 0 0,0 1 0 0 0,-2-2 0 0 0,0 3 0 0 0,-1-2 0 0 0,-1-3 0 0 0,-4 2 0 0 0,-3-2 0 0 0,1-1 0 0 0,1-4 0 0 0,2-1 0 0 0,6-2 0 0 0,3-2 0 0 0,0 0 0 0 0,-1 0 0 0 0,0-1 0 0 0,-2 1 0 0 0,-2-1 0 0 0,0 1 0 0 0,5 0 0 0 0,1 0 0 0 0,0-5 0 0 0,-2-2 0 0 0,-1 1 0 0 0,-2 1 0 0 0,5 1 0 0 0,5-3 0 0 0,1-1 0 0 0,-1 1 0 0 0,-3-3 0 0 0,-3 0 0 0 0,-2 2 0 0 0,-3 2 0 0 0,0 2 0 0 0,-1-3 0 0 0,0-1 0 0 0,0-3 0 0 0,0-1 0 0 0,0 3 0 0 0,0 2 0 0 0,0-3 0 0 0,1 1 0 0 0,-1 2 0 0 0,1-3 0 0 0,-1 0 0 0 0,0-4 0 0 0,1-3 0 0 0,-1 0 0 0 0,1-1 0 0 0,-1 2 0 0 0,-5-2 0 0 0,-1 4 0 0 0,-5-3 0 0 0,0-2 0 0 0,1 2 0 0 0,3-1 0 0 0,3-3 0 0 0,-3-3 0 0 0,-1 3 0 0 0,2 0 0 0 0,-4-1 0 0 0,1-3 0 0 0,1-1 0 0 0,3-1 0 0 0,-3-2 0 0 0,-1 0 0 0 0,2-6 0 0 0,3 3 0 0 0,-4-2 0 0 0,0 4 0 0 0,-4 2 0 0 0,0-4 0 0 0,3-1 0 0 0,-3-1 0 0 0,-3-4 0 0 0,0 4 0 0 0,-2 3 0 0 0,2-3 0 0 0,-2-1 0 0 0,-2 1 0 0 0,-4 0 0 0 0,-2 2 0 0 0,3 1 0 0 0,1 1 0 0 0,-2 0 0 0 0,-2 1 0 0 0,-1 0 0 0 0,-1-5 0 0 0,-1-2 0 0 0,-1 0 0 0 0,0 2 0 0 0,0 1 0 0 0,-1 1 0 0 0,1 2 0 0 0,0 0 0 0 0,-5 0 0 0 0,-2 1 0 0 0,-4 0 0 0 0,-6 5 0 0 0,0 1 0 0 0,4-4 0 0 0,-2 1 0 0 0,2 0 0 0 0,-7 0 0 0 0,0 0 0 0 0,-2-2 0 0 0,-1 0 0 0 0,2-1 0 0 0,0 0 0 0 0,4-1 0 0 0,0 1 0 0 0,-3-1 0 0 0,-2 1 0 0 0,-3-1 0 0 0,-2-4 0 0 0,-2-3 0 0 0,5 2 0 0 0,1 0 0 0 0,-1-3 0 0 0,-1 0 0 0 0,-1 1 0 0 0,-1 2 0 0 0,-2 2 0 0 0,0-4 0 0 0,0 6 0 0 0,-1 1 0 0 0,6 2 0 0 0,0 6 0 0 0,6 1 0 0 0,0 4 0 0 0,-1 0 0 0 0,-3-1 0 0 0,-3-4 0 0 0,-1-3 0 0 0,-3 4 0 0 0,0-1 0 0 0,0 4 0 0 0,-1 5 0 0 0,5 0 0 0 0,2-3 0 0 0,-1 1 0 0 0,0-2 0 0 0,-2 2 0 0 0,-1-1 0 0 0,-1 2 0 0 0,-6-2 0 0 0,-2 2 0 0 0,0-2 0 0 0,-4-2 0 0 0,0 0 0 0 0,2 0 0 0 0,2 2 0 0 0,-3 4 0 0 0,1-1 0 0 0,-4 2 0 0 0,6-3 0 0 0,3 2 0 0 0,3 2 0 0 0,2 4 0 0 0,5-3 0 0 0,1 0 0 0 0,5 2 0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08T20:02:02.38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22013 14135 16383 0 0,'0'-10'0'0'0,"5"-13"0"0"0,7-13 0 0 0,6-10 0 0 0,5-8 0 0 0,4-19 0 0 0,12-12 0 0 0,4-7 0 0 0,6-8 0 0 0,-2-1 0 0 0,2-5 0 0 0,-2 2 0 0 0,0-2 0 0 0,-2 3 0 0 0,-5 3 0 0 0,2 3 0 0 0,3 4 0 0 0,0-2 0 0 0,-4 0 0 0 0,7 0 0 0 0,0-2 0 0 0,-4 4 0 0 0,2-2 0 0 0,-3-4 0 0 0,2 9 0 0 0,-2 11 0 0 0,-3 2 0 0 0,1-4 0 0 0,-1-4 0 0 0,3-3 0 0 0,3-16 0 0 0,5-10 0 0 0,13-11 0 0 0,16-15 0 0 0,-1-7 0 0 0,-3 10 0 0 0,-5 14 0 0 0,-10 8 0 0 0,-5 13 0 0 0,-12 19 0 0 0,-8 14 0 0 0,-1 4 0 0 0,-6 7 0 0 0,-3 4 0 0 0,4-4 0 0 0,7-12 0 0 0,7-4 0 0 0,1 6 0 0 0,9-12 0 0 0,3-1 0 0 0,9-12 0 0 0,2-5 0 0 0,5-6 0 0 0,5-1 0 0 0,-6 3 0 0 0,0 4 0 0 0,-7 14 0 0 0,-10 10 0 0 0,-4 9 0 0 0,-6 9 0 0 0,-11 6 0 0 0,-5 10 0 0 0,-9 7 0 0 0,-2 10 0 0 0,-4 3 0 0 0,0 5 0 0 0,-2 0 0 0 0,2-2 0 0 0,4 2 0 0 0,-2-2 0 0 0,2 2 0 0 0,3 4 0 0 0,2-2 0 0 0,3 2 0 0 0,-3-2 0 0 0,-1-5 0 0 0,2 2 0 0 0,1-2 0 0 0,-4 2 0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08T20:02:02.38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24342 8617 16383 0 0,'10'0'0'0'0,"8"0"0"0"0,6 0 0 0 0,9 0 0 0 0,9-5 0 0 0,3-2 0 0 0,-2 1 0 0 0,-4-4 0 0 0,-2-6 0 0 0,-3 1 0 0 0,-3-3 0 0 0,-1 3 0 0 0,0 2 0 0 0,4 0 0 0 0,1 1 0 0 0,-5-1 0 0 0,3 0 0 0 0,0 3 0 0 0,-6-2 0 0 0,-6 12 0 0 0,-8 15 0 0 0,-6 10 0 0 0,-4 11 0 0 0,-2 4 0 0 0,-7 6 0 0 0,-2 9 0 0 0,0 6 0 0 0,2 8 0 0 0,2 1 0 0 0,1 0 0 0 0,1-8 0 0 0,2-9 0 0 0,-1-9 0 0 0,2-11 0 0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3" Type="http://schemas.openxmlformats.org/officeDocument/2006/relationships/image" Target="../media/image29.png"/><Relationship Id="rId7" Type="http://schemas.openxmlformats.org/officeDocument/2006/relationships/image" Target="../media/image31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5" Type="http://schemas.openxmlformats.org/officeDocument/2006/relationships/image" Target="../media/image30.png"/><Relationship Id="rId4" Type="http://schemas.openxmlformats.org/officeDocument/2006/relationships/customXml" Target="../ink/ink1.xml"/><Relationship Id="rId9" Type="http://schemas.openxmlformats.org/officeDocument/2006/relationships/image" Target="../media/image32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/>
              <a:t>TEAM A - Final Project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Farris M. Hamid, Arnab Shams, Jared, </a:t>
            </a:r>
            <a:r>
              <a:rPr lang="en-US">
                <a:ea typeface="+mn-lt"/>
                <a:cs typeface="+mn-lt"/>
              </a:rPr>
              <a:t>Sudheer Kumar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5104ED-87E0-2CF3-9512-363B6AA17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Project Objective</a:t>
            </a:r>
          </a:p>
        </p:txBody>
      </p:sp>
      <p:pic>
        <p:nvPicPr>
          <p:cNvPr id="4" name="Content Placeholder 3" descr="A close-up of a red circle&#10;&#10;AI-generated content may be incorrect.">
            <a:extLst>
              <a:ext uri="{FF2B5EF4-FFF2-40B4-BE49-F238E27FC236}">
                <a16:creationId xmlns:a16="http://schemas.microsoft.com/office/drawing/2014/main" id="{5A720F5A-6EC6-0BA9-B6AF-324C56FC1E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09725" y="2029619"/>
            <a:ext cx="8972550" cy="3943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68952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4F6530-42DC-4F41-B180-4FDC81EBA5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Bell-Shaped Ribbed Conical Shell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4705C53-85DF-F783-FBF7-70FC1EDEC477}"/>
              </a:ext>
            </a:extLst>
          </p:cNvPr>
          <p:cNvSpPr txBox="1"/>
          <p:nvPr/>
        </p:nvSpPr>
        <p:spPr>
          <a:xfrm>
            <a:off x="5577416" y="1354666"/>
            <a:ext cx="5725583" cy="451908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4304EB9-ADF5-090B-558D-6011068D2A6E}"/>
              </a:ext>
            </a:extLst>
          </p:cNvPr>
          <p:cNvSpPr txBox="1"/>
          <p:nvPr/>
        </p:nvSpPr>
        <p:spPr>
          <a:xfrm>
            <a:off x="5101167" y="1714500"/>
            <a:ext cx="6096000" cy="403187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baseline="0">
                <a:latin typeface="Aptos"/>
              </a:rPr>
              <a:t>Continuous shell geometry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aseline="0">
                <a:latin typeface="Aptos"/>
              </a:rPr>
              <a:t>improves axial load transfer and minimizes stress.</a:t>
            </a:r>
          </a:p>
          <a:p>
            <a:pPr lvl="1"/>
            <a:endParaRPr lang="en-US" sz="1600" baseline="0">
              <a:latin typeface="Aptos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baseline="0">
                <a:latin typeface="Aptos"/>
              </a:rPr>
              <a:t>Rings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aseline="0">
                <a:latin typeface="Aptos"/>
              </a:rPr>
              <a:t>top section provides a stable interface for mounting ring and distributes twisting loads.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600">
              <a:latin typeface="Aptos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baseline="0">
                <a:latin typeface="Aptos"/>
              </a:rPr>
              <a:t>Taper</a:t>
            </a:r>
            <a:r>
              <a:rPr lang="en-US" sz="1600" baseline="0">
                <a:latin typeface="Aptos"/>
              </a:rPr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aseline="0">
                <a:latin typeface="Aptos"/>
              </a:rPr>
              <a:t>enhance overall stiffness and raise natural frequency.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600" baseline="0">
              <a:latin typeface="Aptos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baseline="0">
                <a:latin typeface="Aptos"/>
              </a:rPr>
              <a:t>Uniform wall thickness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aseline="0">
                <a:latin typeface="Aptos"/>
              </a:rPr>
              <a:t>AM feasibility and simplifies modal analysis.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600" baseline="0">
              <a:latin typeface="Aptos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>
                <a:latin typeface="Aptos"/>
              </a:rPr>
              <a:t>Reduce Mass/Material: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aseline="0">
                <a:latin typeface="Aptos"/>
              </a:rPr>
              <a:t>Internal ribbing or lattice infill to reduce mass while maintaining rigidity.</a:t>
            </a:r>
            <a:endParaRPr lang="en-US" sz="160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31975E5-3C91-69D6-B364-2855B8882D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258" y="2008873"/>
            <a:ext cx="4704836" cy="344779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0C41C84-EA39-2931-4363-E4C93FA852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4082" y="5742370"/>
            <a:ext cx="8486775" cy="771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16805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A5CFB-EFA3-01BE-7277-F5F9228AF4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Conical Cage with Ribs</a:t>
            </a:r>
          </a:p>
        </p:txBody>
      </p:sp>
      <p:pic>
        <p:nvPicPr>
          <p:cNvPr id="4" name="Content Placeholder 3" descr="A wire cone shaped lamp shade&#10;&#10;AI-generated content may be incorrect.">
            <a:extLst>
              <a:ext uri="{FF2B5EF4-FFF2-40B4-BE49-F238E27FC236}">
                <a16:creationId xmlns:a16="http://schemas.microsoft.com/office/drawing/2014/main" id="{8C04F21E-52EC-3DBB-3FAA-5C692EBBEA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567084" y="1921140"/>
            <a:ext cx="3429000" cy="38004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1525090-3D62-7B8E-0B6C-0626233740DD}"/>
              </a:ext>
            </a:extLst>
          </p:cNvPr>
          <p:cNvSpPr txBox="1"/>
          <p:nvPr/>
        </p:nvSpPr>
        <p:spPr>
          <a:xfrm>
            <a:off x="908473" y="1690689"/>
            <a:ext cx="6559127" cy="427809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baseline="0">
                <a:latin typeface="Aptos"/>
              </a:rPr>
              <a:t>70 evenly spaced vertical rods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aseline="0">
                <a:latin typeface="Aptos"/>
              </a:rPr>
              <a:t>efficiently transfer axial loads from ring to base.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baseline="0">
              <a:latin typeface="Aptos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baseline="0">
                <a:latin typeface="Aptos"/>
              </a:rPr>
              <a:t>Dual circular rings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aseline="0">
                <a:latin typeface="Aptos"/>
              </a:rPr>
              <a:t>provide lateral and torsional stability under combined loading.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baseline="0">
              <a:latin typeface="Aptos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baseline="0">
                <a:latin typeface="Aptos"/>
              </a:rPr>
              <a:t>Open-frame design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aseline="0">
                <a:latin typeface="Aptos"/>
              </a:rPr>
              <a:t>minimizes mass and allows easy powder escape in AM processes.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baseline="0">
              <a:latin typeface="Aptos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baseline="0">
                <a:latin typeface="Aptos"/>
              </a:rPr>
              <a:t>Symmetric: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aseline="0">
                <a:latin typeface="Aptos"/>
              </a:rPr>
              <a:t>Symmetric layout ensures balanced modal response and simplifies FEA boundary conditions.</a:t>
            </a:r>
          </a:p>
          <a:p>
            <a:endParaRPr lang="en-US" sz="1600" baseline="0">
              <a:latin typeface="Aptos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>
                <a:latin typeface="Aptos"/>
              </a:rPr>
              <a:t>Make it more Lightweight: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>
                <a:latin typeface="Aptos"/>
              </a:rPr>
              <a:t>Could remove some vertical rods to make it </a:t>
            </a:r>
            <a:r>
              <a:rPr lang="en-US" sz="1600" baseline="0">
                <a:latin typeface="Aptos"/>
              </a:rPr>
              <a:t>Lightweight structure.</a:t>
            </a:r>
            <a:endParaRPr lang="en-US" sz="1600"/>
          </a:p>
        </p:txBody>
      </p:sp>
      <p:pic>
        <p:nvPicPr>
          <p:cNvPr id="3" name="Picture 2" descr="A black text with a white background&#10;&#10;AI-generated content may be incorrect.">
            <a:extLst>
              <a:ext uri="{FF2B5EF4-FFF2-40B4-BE49-F238E27FC236}">
                <a16:creationId xmlns:a16="http://schemas.microsoft.com/office/drawing/2014/main" id="{DDE33B10-3048-25D9-9A70-2908EC7B4F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8749" y="5967126"/>
            <a:ext cx="8210550" cy="781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15807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53433D-8017-92A7-28BD-0FE3114D9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Conical Frames with Ribs</a:t>
            </a:r>
          </a:p>
        </p:txBody>
      </p:sp>
      <p:pic>
        <p:nvPicPr>
          <p:cNvPr id="4" name="Content Placeholder 3" descr="A drawing of a metal cone&#10;&#10;AI-generated content may be incorrect.">
            <a:extLst>
              <a:ext uri="{FF2B5EF4-FFF2-40B4-BE49-F238E27FC236}">
                <a16:creationId xmlns:a16="http://schemas.microsoft.com/office/drawing/2014/main" id="{0D943377-5E4D-21FB-5C86-0F593DE612A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098490"/>
            <a:ext cx="4641850" cy="380560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2FDEFBD-C311-9FBC-9F34-18478607ED93}"/>
              </a:ext>
            </a:extLst>
          </p:cNvPr>
          <p:cNvSpPr txBox="1"/>
          <p:nvPr/>
        </p:nvSpPr>
        <p:spPr>
          <a:xfrm>
            <a:off x="6096000" y="2275417"/>
            <a:ext cx="5715000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/>
              <a:t>10 angled legs to transfer axial load</a:t>
            </a:r>
          </a:p>
          <a:p>
            <a:pPr marL="285750" indent="-285750">
              <a:buFont typeface="Arial"/>
              <a:buChar char="•"/>
            </a:pP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/>
              <a:t>2 circular supports for lateral and torsional stability</a:t>
            </a:r>
          </a:p>
          <a:p>
            <a:pPr marL="285750" indent="-285750">
              <a:buFont typeface="Arial"/>
              <a:buChar char="•"/>
            </a:pP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/>
              <a:t>Made thin to reduce weight while maintaining rigidity</a:t>
            </a:r>
          </a:p>
          <a:p>
            <a:pPr marL="285750" indent="-285750">
              <a:buFont typeface="Arial"/>
              <a:buChar char="•"/>
            </a:pP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/>
              <a:t>May be able to make lighter with further testing</a:t>
            </a:r>
          </a:p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24ACAC2-9F58-8E0F-642C-030939EC18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0263" y="6044645"/>
            <a:ext cx="7991475" cy="809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23280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3485B2-9E67-E7DA-BEF1-0B3388B9A7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91"/>
            <a:ext cx="10515600" cy="1325563"/>
          </a:xfrm>
        </p:spPr>
        <p:txBody>
          <a:bodyPr/>
          <a:lstStyle/>
          <a:p>
            <a:r>
              <a:rPr lang="en-US">
                <a:ea typeface="+mj-lt"/>
                <a:cs typeface="+mj-lt"/>
              </a:rPr>
              <a:t>Ribbed Conical Shell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806DF05-1A90-80F5-0854-08DA05A9C8AC}"/>
              </a:ext>
            </a:extLst>
          </p:cNvPr>
          <p:cNvSpPr txBox="1"/>
          <p:nvPr/>
        </p:nvSpPr>
        <p:spPr>
          <a:xfrm>
            <a:off x="146304" y="1379486"/>
            <a:ext cx="5807628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/>
              <a:t>Design: </a:t>
            </a:r>
            <a:r>
              <a:rPr lang="en-US" sz="2000"/>
              <a:t>Tapered shell geometry channels axial loads efficiently from ring to base.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/>
              <a:t>Ring: </a:t>
            </a:r>
            <a:r>
              <a:rPr lang="en-US" sz="2000"/>
              <a:t>Circular top opening aligns with mounting ring interface; wide base ensures stable ground contact.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/>
              <a:t>AM-friendly design: </a:t>
            </a:r>
            <a:r>
              <a:rPr lang="en-US" sz="2000"/>
              <a:t>smooth lofted surfaces, uniform wall thickness, and minimal support material.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/>
              <a:t>Lightweight:  </a:t>
            </a:r>
            <a:r>
              <a:rPr lang="en-US" sz="2000"/>
              <a:t>Make it lighter with further testing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/>
          </a:p>
        </p:txBody>
      </p:sp>
      <p:pic>
        <p:nvPicPr>
          <p:cNvPr id="8" name="drawing">
            <a:extLst>
              <a:ext uri="{FF2B5EF4-FFF2-40B4-BE49-F238E27FC236}">
                <a16:creationId xmlns:a16="http://schemas.microsoft.com/office/drawing/2014/main" id="{F8178FBB-1E84-447C-8C4E-34E608C1908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43805" t="15445" r="-1" b="7796"/>
          <a:stretch/>
        </p:blipFill>
        <p:spPr bwMode="auto">
          <a:xfrm>
            <a:off x="6110376" y="1664208"/>
            <a:ext cx="5605463" cy="4159728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4" name="Picture 3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52400B03-E6D8-3B9E-AAAC-1BEDE5C9A0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0201" y="5852826"/>
            <a:ext cx="10115550" cy="1009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55414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39B768-7ED0-BDEB-9368-E100DC87B9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7524" y="135189"/>
            <a:ext cx="10515600" cy="1325563"/>
          </a:xfrm>
        </p:spPr>
        <p:txBody>
          <a:bodyPr/>
          <a:lstStyle/>
          <a:p>
            <a:r>
              <a:rPr lang="en-US" b="1">
                <a:solidFill>
                  <a:srgbClr val="FF0000"/>
                </a:solidFill>
              </a:rPr>
              <a:t>Chosen Concept:</a:t>
            </a:r>
            <a:r>
              <a:rPr lang="en-US">
                <a:solidFill>
                  <a:srgbClr val="FF0000"/>
                </a:solidFill>
              </a:rPr>
              <a:t> Conical Tripod Truss Ribs</a:t>
            </a:r>
          </a:p>
        </p:txBody>
      </p:sp>
      <p:pic>
        <p:nvPicPr>
          <p:cNvPr id="4" name="Content Placeholder 3" descr="A drawing of a structure&#10;&#10;AI-generated content may be incorrect.">
            <a:extLst>
              <a:ext uri="{FF2B5EF4-FFF2-40B4-BE49-F238E27FC236}">
                <a16:creationId xmlns:a16="http://schemas.microsoft.com/office/drawing/2014/main" id="{AE7446F1-6644-3252-62AC-62D4E7E4EA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7524" y="1456563"/>
            <a:ext cx="4993933" cy="447992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16FD476-9B25-1F1B-1A27-68F9732C7894}"/>
              </a:ext>
            </a:extLst>
          </p:cNvPr>
          <p:cNvSpPr txBox="1"/>
          <p:nvPr/>
        </p:nvSpPr>
        <p:spPr>
          <a:xfrm>
            <a:off x="5419509" y="1770911"/>
            <a:ext cx="6736080" cy="35394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/>
              <a:t>Tapered tripod truss geometry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/>
              <a:t>Axial loads from the mounting ring to the ground base. Sturdy triangular shape takes care of the axial loads.</a:t>
            </a:r>
          </a:p>
          <a:p>
            <a:pPr lvl="1"/>
            <a:endParaRPr lang="en-US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/>
              <a:t>Symmetry: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/>
              <a:t>Lateral and torsional stability under combined loading conditions.</a:t>
            </a:r>
          </a:p>
          <a:p>
            <a:pPr lvl="1"/>
            <a:endParaRPr lang="en-US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/>
              <a:t>AM friendly: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/>
              <a:t>Self-supporting angles throughout the structure</a:t>
            </a:r>
          </a:p>
          <a:p>
            <a:pPr lvl="1"/>
            <a:endParaRPr lang="en-US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/>
              <a:t>Lightweight yet rigid: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/>
              <a:t>Minimal mass while maintaining high stiffness and modal performance.</a:t>
            </a:r>
          </a:p>
          <a:p>
            <a:pPr algn="ctr"/>
            <a:endParaRPr lang="en-US" sz="160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A59B21E9-C442-82CE-7434-929E061EF6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03634" y="-461665"/>
            <a:ext cx="184731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800" b="1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lang="en-US" altLang="en-US" sz="1800" b="1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 descr="A black text with a white background&#10;&#10;AI-generated content may be incorrect.">
            <a:extLst>
              <a:ext uri="{FF2B5EF4-FFF2-40B4-BE49-F238E27FC236}">
                <a16:creationId xmlns:a16="http://schemas.microsoft.com/office/drawing/2014/main" id="{EF1AFB45-2E3E-3363-F239-9762AEC5D5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9682" y="5938551"/>
            <a:ext cx="8096250" cy="83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69420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2E7F0D-7997-550E-7E68-EE773F8E23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E6583-288A-DF58-4B50-0516F99C7C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Axial Dead Load (2000N)</a:t>
            </a:r>
          </a:p>
        </p:txBody>
      </p:sp>
      <p:pic>
        <p:nvPicPr>
          <p:cNvPr id="4" name="Content Placeholder 3" descr="A blue and orange drawing of a structure&#10;&#10;AI-generated content may be incorrect.">
            <a:extLst>
              <a:ext uri="{FF2B5EF4-FFF2-40B4-BE49-F238E27FC236}">
                <a16:creationId xmlns:a16="http://schemas.microsoft.com/office/drawing/2014/main" id="{CC9F1E2E-A16E-D4CC-DBE9-B3F1B2EA2A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22424" y="1403312"/>
            <a:ext cx="5110428" cy="5159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42405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3C2F7-E8A6-B1A4-9558-1858923712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Axial Deadload Results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2153112-2B33-BED9-EEB8-5A383B2835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6056" y="1374775"/>
            <a:ext cx="6195944" cy="470503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87AE37A-07E4-6F87-9380-3CF24816EB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28" y="1533207"/>
            <a:ext cx="6055972" cy="438816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757F254-5ABC-1ACC-4294-771511EBBB69}"/>
              </a:ext>
            </a:extLst>
          </p:cNvPr>
          <p:cNvSpPr txBox="1"/>
          <p:nvPr/>
        </p:nvSpPr>
        <p:spPr>
          <a:xfrm>
            <a:off x="7141464" y="1533207"/>
            <a:ext cx="1188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0.796 mm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3972100-777D-7C68-3AD5-1BA738905FA9}"/>
              </a:ext>
            </a:extLst>
          </p:cNvPr>
          <p:cNvSpPr txBox="1"/>
          <p:nvPr/>
        </p:nvSpPr>
        <p:spPr>
          <a:xfrm>
            <a:off x="1048512" y="1849120"/>
            <a:ext cx="12923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148.5 MPa</a:t>
            </a:r>
          </a:p>
        </p:txBody>
      </p:sp>
    </p:spTree>
    <p:extLst>
      <p:ext uri="{BB962C8B-B14F-4D97-AF65-F5344CB8AC3E}">
        <p14:creationId xmlns:p14="http://schemas.microsoft.com/office/powerpoint/2010/main" val="9326456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B43F23-081C-0C60-EE20-01E253CF85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Lateral Load (500N)</a:t>
            </a:r>
            <a:endParaRPr lang="en-US"/>
          </a:p>
        </p:txBody>
      </p:sp>
      <p:pic>
        <p:nvPicPr>
          <p:cNvPr id="4" name="Content Placeholder 3" descr="A blue and red drawing of a structure&#10;&#10;AI-generated content may be incorrect.">
            <a:extLst>
              <a:ext uri="{FF2B5EF4-FFF2-40B4-BE49-F238E27FC236}">
                <a16:creationId xmlns:a16="http://schemas.microsoft.com/office/drawing/2014/main" id="{458322F1-3833-305B-A8C1-46F2B5D23E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79078" y="1366589"/>
            <a:ext cx="5252202" cy="5361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50243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B6D137-5FEE-EE01-3C06-1FCDB69741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Lateral Load Results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06A844A-881B-AD54-FEC2-EE6E1257FE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622" y="1447482"/>
            <a:ext cx="5516811" cy="507823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B54FDC3-3C71-9738-DBAE-A73A193C7D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1382" y="1447481"/>
            <a:ext cx="5589209" cy="519106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5B758FB-2AD4-4FA2-A33D-CC58BA42DC1E}"/>
              </a:ext>
            </a:extLst>
          </p:cNvPr>
          <p:cNvSpPr txBox="1"/>
          <p:nvPr/>
        </p:nvSpPr>
        <p:spPr>
          <a:xfrm>
            <a:off x="1570234" y="1351002"/>
            <a:ext cx="1803827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/>
              <a:t>233 – 408 MPa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F40445-881A-8B01-C25D-F66B1DF44546}"/>
              </a:ext>
            </a:extLst>
          </p:cNvPr>
          <p:cNvSpPr txBox="1"/>
          <p:nvPr/>
        </p:nvSpPr>
        <p:spPr>
          <a:xfrm>
            <a:off x="7327576" y="1504319"/>
            <a:ext cx="1188720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/>
              <a:t>3.33 mm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4C046F8-E7E9-750A-D853-6AFEAA91AF15}"/>
              </a:ext>
            </a:extLst>
          </p:cNvPr>
          <p:cNvSpPr txBox="1"/>
          <p:nvPr/>
        </p:nvSpPr>
        <p:spPr>
          <a:xfrm>
            <a:off x="7152985" y="1688738"/>
            <a:ext cx="68211" cy="12310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6845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0A34B-0F83-4B01-0D17-F81758611DD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r>
              <a:rPr lang="en-US"/>
              <a:t>Twisting Load (100N*mm)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DA3FD5-7BF6-9D5A-555C-6BAE53E596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5446" y="1284476"/>
            <a:ext cx="5943600" cy="5502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67011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89794A-4036-1C72-258A-D74F22AB83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Twisting Load Results (Abaqus)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CEE317-843A-05AA-2AFD-FF5B0BD7F2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7607956-9326-B3EF-9A6B-6D03C99486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907" y="1745551"/>
            <a:ext cx="4909757" cy="467831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304994E-9D84-0574-0824-991EF006AB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1913" y="1690688"/>
            <a:ext cx="5191887" cy="490980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E458A68-E888-2E00-59A0-E8DEC57B8606}"/>
              </a:ext>
            </a:extLst>
          </p:cNvPr>
          <p:cNvSpPr txBox="1"/>
          <p:nvPr/>
        </p:nvSpPr>
        <p:spPr>
          <a:xfrm>
            <a:off x="1441704" y="1690688"/>
            <a:ext cx="13649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0.0044 MPa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4EE30A-C290-BB68-368E-E531F868B496}"/>
              </a:ext>
            </a:extLst>
          </p:cNvPr>
          <p:cNvSpPr txBox="1"/>
          <p:nvPr/>
        </p:nvSpPr>
        <p:spPr>
          <a:xfrm>
            <a:off x="7201154" y="1690688"/>
            <a:ext cx="13649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0.000037 mm</a:t>
            </a:r>
          </a:p>
        </p:txBody>
      </p:sp>
    </p:spTree>
    <p:extLst>
      <p:ext uri="{BB962C8B-B14F-4D97-AF65-F5344CB8AC3E}">
        <p14:creationId xmlns:p14="http://schemas.microsoft.com/office/powerpoint/2010/main" val="10890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F4D157-19E3-7DD7-BDC8-5A5859C254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Resonance Load (Abaqus)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72C2F8-196B-3C8C-E3D9-F59A83D2FF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9">
            <a:extLst>
              <a:ext uri="{FF2B5EF4-FFF2-40B4-BE49-F238E27FC236}">
                <a16:creationId xmlns:a16="http://schemas.microsoft.com/office/drawing/2014/main" id="{F53FB4F7-4F2A-8A29-3BE5-EB1CF9C5E7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0647" y="5411655"/>
            <a:ext cx="4591246" cy="9002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5" name="Picture 8">
            <a:extLst>
              <a:ext uri="{FF2B5EF4-FFF2-40B4-BE49-F238E27FC236}">
                <a16:creationId xmlns:a16="http://schemas.microsoft.com/office/drawing/2014/main" id="{A5B71FE3-F19B-ED94-4B96-3D5E44442B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108" y="1395410"/>
            <a:ext cx="6640540" cy="50974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2DA496B9-6A0F-6DD1-CF2E-3D4A113CC8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92624" y="90488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BBC8A36-B5C6-6E89-96D7-101D390848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92624" y="169068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50664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E02B994-90FA-928C-103F-9D69ED6DAA9B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>
                <a:ea typeface="+mj-lt"/>
                <a:cs typeface="+mj-lt"/>
              </a:rPr>
              <a:t>Lateral Load (500N)</a:t>
            </a:r>
            <a:endParaRPr lang="en-US"/>
          </a:p>
        </p:txBody>
      </p:sp>
      <p:pic>
        <p:nvPicPr>
          <p:cNvPr id="7" name="Picture 6" descr="A blue drawing on a grid&#10;&#10;AI-generated content may be incorrect.">
            <a:extLst>
              <a:ext uri="{FF2B5EF4-FFF2-40B4-BE49-F238E27FC236}">
                <a16:creationId xmlns:a16="http://schemas.microsoft.com/office/drawing/2014/main" id="{96606F87-7B73-6001-43A9-909702EFE8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091" y="1026760"/>
            <a:ext cx="9947564" cy="5386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95985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6AFFA-3B57-A5C5-E4F3-BBD102F2B9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Twisting Load Results (Fusion360)</a:t>
            </a:r>
          </a:p>
        </p:txBody>
      </p:sp>
      <p:pic>
        <p:nvPicPr>
          <p:cNvPr id="4" name="drawing">
            <a:extLst>
              <a:ext uri="{FF2B5EF4-FFF2-40B4-BE49-F238E27FC236}">
                <a16:creationId xmlns:a16="http://schemas.microsoft.com/office/drawing/2014/main" id="{81F53527-F2C2-EFAA-FEFF-5B1453A0AE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9226" t="29344" r="2330" b="2747"/>
          <a:stretch/>
        </p:blipFill>
        <p:spPr>
          <a:xfrm>
            <a:off x="79247" y="2185416"/>
            <a:ext cx="6016753" cy="3840480"/>
          </a:xfrm>
          <a:prstGeom prst="rect">
            <a:avLst/>
          </a:prstGeom>
        </p:spPr>
      </p:pic>
      <p:pic>
        <p:nvPicPr>
          <p:cNvPr id="5" name="drawing">
            <a:extLst>
              <a:ext uri="{FF2B5EF4-FFF2-40B4-BE49-F238E27FC236}">
                <a16:creationId xmlns:a16="http://schemas.microsoft.com/office/drawing/2014/main" id="{03607DD0-DBA3-837A-CCC2-4E134E9AC6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2666" t="22499" r="2103" b="2219"/>
          <a:stretch/>
        </p:blipFill>
        <p:spPr>
          <a:xfrm>
            <a:off x="6175248" y="1772984"/>
            <a:ext cx="6016752" cy="4335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96620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omputer screen shot of a drawing&#10;&#10;AI-generated content may be incorrect.">
            <a:extLst>
              <a:ext uri="{FF2B5EF4-FFF2-40B4-BE49-F238E27FC236}">
                <a16:creationId xmlns:a16="http://schemas.microsoft.com/office/drawing/2014/main" id="{6AC72AAE-67B1-4578-D3AC-20B22967B4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880" y="926957"/>
            <a:ext cx="5442240" cy="4200525"/>
          </a:xfrm>
          <a:prstGeom prst="rect">
            <a:avLst/>
          </a:prstGeom>
        </p:spPr>
      </p:pic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431E4E0-F893-D7B5-BEEC-CDF464F0AE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9" y="927928"/>
            <a:ext cx="6026728" cy="4198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8400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956C98-95DA-12F3-BA81-B06D2EA7F4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Resonance Load (Fusion360)</a:t>
            </a:r>
          </a:p>
        </p:txBody>
      </p:sp>
      <p:pic>
        <p:nvPicPr>
          <p:cNvPr id="4" name="drawing">
            <a:extLst>
              <a:ext uri="{FF2B5EF4-FFF2-40B4-BE49-F238E27FC236}">
                <a16:creationId xmlns:a16="http://schemas.microsoft.com/office/drawing/2014/main" id="{C09F7CF0-051A-8F39-DDAC-C3A88D532B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8676" t="15335" r="1324" b="6276"/>
          <a:stretch/>
        </p:blipFill>
        <p:spPr>
          <a:xfrm>
            <a:off x="951253" y="1428377"/>
            <a:ext cx="8211312" cy="5157720"/>
          </a:xfrm>
          <a:prstGeom prst="rect">
            <a:avLst/>
          </a:prstGeom>
        </p:spPr>
      </p:pic>
      <p:pic>
        <p:nvPicPr>
          <p:cNvPr id="3" name="Picture 2" descr="A screenshot of a device&#10;&#10;AI-generated content may be incorrect.">
            <a:extLst>
              <a:ext uri="{FF2B5EF4-FFF2-40B4-BE49-F238E27FC236}">
                <a16:creationId xmlns:a16="http://schemas.microsoft.com/office/drawing/2014/main" id="{07D4303B-6657-9484-66E5-9A7446C062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7880" y="1246188"/>
            <a:ext cx="2833158" cy="252412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ED4E71AD-E5C0-8F7F-66BE-ADE8C54A8B46}"/>
                  </a:ext>
                </a:extLst>
              </p14:cNvPr>
              <p14:cNvContentPartPr/>
              <p14:nvPr/>
            </p14:nvContentPartPr>
            <p14:xfrm>
              <a:off x="7301646" y="4635500"/>
              <a:ext cx="1049123" cy="1112074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ED4E71AD-E5C0-8F7F-66BE-ADE8C54A8B4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283651" y="4617505"/>
                <a:ext cx="1084754" cy="114770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AC4B4D8F-8E31-6C46-9B76-630D914C7510}"/>
                  </a:ext>
                </a:extLst>
              </p14:cNvPr>
              <p14:cNvContentPartPr/>
              <p14:nvPr/>
            </p14:nvContentPartPr>
            <p14:xfrm>
              <a:off x="7863417" y="2612237"/>
              <a:ext cx="1152906" cy="2023262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AC4B4D8F-8E31-6C46-9B76-630D914C751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845425" y="2594240"/>
                <a:ext cx="1188530" cy="205889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766ACCB2-5894-5BC8-3EF0-6FF4662A0D4B}"/>
                  </a:ext>
                </a:extLst>
              </p14:cNvPr>
              <p14:cNvContentPartPr/>
              <p14:nvPr/>
            </p14:nvContentPartPr>
            <p14:xfrm>
              <a:off x="8794749" y="2581755"/>
              <a:ext cx="235201" cy="244407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766ACCB2-5894-5BC8-3EF0-6FF4662A0D4B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776767" y="2563784"/>
                <a:ext cx="270805" cy="27999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896510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2E884-B424-A9F3-12B9-1B7013F068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Explanation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7BDB55-06A5-6985-8396-611A9F753B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b="1">
                <a:ea typeface="+mn-lt"/>
                <a:cs typeface="+mn-lt"/>
              </a:rPr>
              <a:t>Factor of Safety for AlSi10Mg (σ = 230-260 MPa)</a:t>
            </a:r>
          </a:p>
          <a:p>
            <a:pPr lvl="1"/>
            <a:r>
              <a:rPr lang="en-US">
                <a:ea typeface="+mn-lt"/>
                <a:cs typeface="+mn-lt"/>
              </a:rPr>
              <a:t>F.O.S = Material Strength / Load Applied ~  </a:t>
            </a:r>
            <a:r>
              <a:rPr lang="en-US" sz="3200">
                <a:ea typeface="+mn-lt"/>
                <a:cs typeface="+mn-lt"/>
              </a:rPr>
              <a:t>1.55-1.75</a:t>
            </a:r>
            <a:r>
              <a:rPr lang="en-US">
                <a:ea typeface="+mn-lt"/>
                <a:cs typeface="+mn-lt"/>
              </a:rPr>
              <a:t> </a:t>
            </a:r>
          </a:p>
          <a:p>
            <a:pPr lvl="1"/>
            <a:endParaRPr lang="en-US" b="1">
              <a:ea typeface="+mn-lt"/>
              <a:cs typeface="+mn-lt"/>
            </a:endParaRPr>
          </a:p>
          <a:p>
            <a:r>
              <a:rPr lang="en-US" b="1">
                <a:ea typeface="+mn-lt"/>
                <a:cs typeface="+mn-lt"/>
              </a:rPr>
              <a:t>AM Design </a:t>
            </a:r>
            <a:endParaRPr lang="en-US"/>
          </a:p>
          <a:p>
            <a:pPr lvl="1"/>
            <a:r>
              <a:rPr lang="en-US"/>
              <a:t>Powder Bed Fusion AM would work best for this design. 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en-US">
                <a:ea typeface="+mn-lt"/>
                <a:cs typeface="+mn-lt"/>
              </a:rPr>
              <a:t>Allows complex designs with fine features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en-US">
                <a:ea typeface="+mn-lt"/>
                <a:cs typeface="+mn-lt"/>
              </a:rPr>
              <a:t>Can work with aluminum</a:t>
            </a:r>
          </a:p>
          <a:p>
            <a:pPr marL="457200" lvl="1" indent="0">
              <a:buNone/>
            </a:pPr>
            <a:endParaRPr lang="en-US">
              <a:ea typeface="+mn-lt"/>
              <a:cs typeface="+mn-lt"/>
            </a:endParaRPr>
          </a:p>
          <a:p>
            <a:r>
              <a:rPr lang="en-US" b="1">
                <a:ea typeface="+mn-lt"/>
                <a:cs typeface="+mn-lt"/>
              </a:rPr>
              <a:t>Estimated unit cost: </a:t>
            </a:r>
          </a:p>
          <a:p>
            <a:pPr lvl="1"/>
            <a:r>
              <a:rPr lang="en-US">
                <a:ea typeface="+mn-lt"/>
                <a:cs typeface="+mn-lt"/>
              </a:rPr>
              <a:t>$350–$600 per stand (including Aluminum material, machine time, post-processing).</a:t>
            </a:r>
          </a:p>
        </p:txBody>
      </p:sp>
    </p:spTree>
    <p:extLst>
      <p:ext uri="{BB962C8B-B14F-4D97-AF65-F5344CB8AC3E}">
        <p14:creationId xmlns:p14="http://schemas.microsoft.com/office/powerpoint/2010/main" val="3256200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19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office theme</vt:lpstr>
      <vt:lpstr>TEAM A - Final Project</vt:lpstr>
      <vt:lpstr>Project Objective</vt:lpstr>
      <vt:lpstr>Bell-Shaped Ribbed Conical Shell</vt:lpstr>
      <vt:lpstr>Conical Cage with Ribs</vt:lpstr>
      <vt:lpstr>Conical Frames with Ribs</vt:lpstr>
      <vt:lpstr>Ribbed Conical Shell</vt:lpstr>
      <vt:lpstr>Chosen Concept: Conical Tripod Truss Ribs</vt:lpstr>
      <vt:lpstr>Axial Dead Load (2000N)</vt:lpstr>
      <vt:lpstr>Axial Deadload Results</vt:lpstr>
      <vt:lpstr>Lateral Load (500N)</vt:lpstr>
      <vt:lpstr>Lateral Load Results</vt:lpstr>
      <vt:lpstr>Twisting Load (100N*mm)</vt:lpstr>
      <vt:lpstr>Twisting Load Results (Abaqus)</vt:lpstr>
      <vt:lpstr>Resonance Load (Abaqus)</vt:lpstr>
      <vt:lpstr>PowerPoint Presentation</vt:lpstr>
      <vt:lpstr>Twisting Load Results (Fusion360)</vt:lpstr>
      <vt:lpstr>PowerPoint Presentation</vt:lpstr>
      <vt:lpstr>Resonance Load (Fusion360)</vt:lpstr>
      <vt:lpstr>Explanation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2</cp:revision>
  <dcterms:created xsi:type="dcterms:W3CDTF">2025-11-11T03:59:16Z</dcterms:created>
  <dcterms:modified xsi:type="dcterms:W3CDTF">2026-10-21T03:34:55Z</dcterms:modified>
</cp:coreProperties>
</file>